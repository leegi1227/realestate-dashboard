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902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 3"/>
          <p:cNvSpPr/>
          <p:nvPr/>
        </p:nvSpPr>
        <p:spPr>
          <a:xfrm>
            <a:off x="457200" y="292608"/>
            <a:ext cx="8988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9AB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REPORT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988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개요 · 핵심지표 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988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연남동 상권·건물가치 — 2026년 7월 기준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970024"/>
            <a:ext cx="2123694" cy="1097280"/>
          </a:xfrm>
          <a:prstGeom prst="roundRect">
            <a:avLst>
              <a:gd name="adj" fmla="val 4167"/>
            </a:avLst>
          </a:prstGeom>
          <a:solidFill>
            <a:srgbClr val="132A45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2098040"/>
            <a:ext cx="1831086" cy="46085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9AB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3504" y="2584501"/>
            <a:ext cx="18310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건물 실거래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" y="2822245"/>
            <a:ext cx="183108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2025.01~2026.07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5486" y="1970024"/>
            <a:ext cx="2123694" cy="1097280"/>
          </a:xfrm>
          <a:prstGeom prst="roundRect">
            <a:avLst>
              <a:gd name="adj" fmla="val 4167"/>
            </a:avLst>
          </a:prstGeom>
          <a:solidFill>
            <a:srgbClr val="13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2891790" y="2098040"/>
            <a:ext cx="1831086" cy="46085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8,371만원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91790" y="2584501"/>
            <a:ext cx="18310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실거래 평당가(대지기준)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91790" y="2822245"/>
            <a:ext cx="183108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전년比 +10.4%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33772" y="1970024"/>
            <a:ext cx="2123694" cy="1097280"/>
          </a:xfrm>
          <a:prstGeom prst="roundRect">
            <a:avLst>
              <a:gd name="adj" fmla="val 4167"/>
            </a:avLst>
          </a:prstGeom>
          <a:solidFill>
            <a:srgbClr val="13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5180076" y="2098040"/>
            <a:ext cx="1831086" cy="46085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A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2,037만원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80076" y="2584501"/>
            <a:ext cx="18310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매물 평균 평당가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80076" y="2822245"/>
            <a:ext cx="183108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반경 150m · 17건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22058" y="1970024"/>
            <a:ext cx="2123694" cy="1097280"/>
          </a:xfrm>
          <a:prstGeom prst="roundRect">
            <a:avLst>
              <a:gd name="adj" fmla="val 4167"/>
            </a:avLst>
          </a:prstGeom>
          <a:solidFill>
            <a:srgbClr val="132A45"/>
          </a:solidFill>
          <a:ln/>
        </p:spPr>
      </p:sp>
      <p:sp>
        <p:nvSpPr>
          <p:cNvPr id="21" name="Text 19"/>
          <p:cNvSpPr/>
          <p:nvPr/>
        </p:nvSpPr>
        <p:spPr>
          <a:xfrm>
            <a:off x="7468362" y="2098040"/>
            <a:ext cx="1831086" cy="46085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8E6F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+43.8%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68362" y="2584501"/>
            <a:ext cx="18310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호가 프리미엄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68362" y="2822245"/>
            <a:ext cx="183108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실거래 대비 현재 호가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136" y="3419856"/>
            <a:ext cx="8988552" cy="2834640"/>
          </a:xfrm>
          <a:prstGeom prst="roundRect">
            <a:avLst>
              <a:gd name="adj" fmla="val 1613"/>
            </a:avLst>
          </a:prstGeom>
          <a:solidFill>
            <a:srgbClr val="132A45"/>
          </a:solidFill>
          <a:ln/>
        </p:spPr>
      </p:sp>
      <p:sp>
        <p:nvSpPr>
          <p:cNvPr id="25" name="Text 23"/>
          <p:cNvSpPr/>
          <p:nvPr/>
        </p:nvSpPr>
        <p:spPr>
          <a:xfrm>
            <a:off x="685736" y="3575304"/>
            <a:ext cx="85313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보는 연남동 상권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736" y="3904488"/>
            <a:ext cx="853135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마포구 연남동은 지하철 2호선·경의중앙선·공항철도 환승역인 홍대입구역을 배후로, 경의선숲길(연트럴파크)을 축으로 형성된 골목형 상권이다.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현재 상권은 기존 '카페 중심'에서 '라멘 성지'로 빠르게 재편되고 있으며, SNS 기반 트렌드가 유동인구와 화제성을 견인하고 있다.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건물 실거래 21건(2025.01~2026.07)의 토지 평당가는 2025년 평균 7,584만원에서 2026년(1~7월) 평균 8,371만원으로 약 10.4% 상승했다.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매도 매물 17건(반경 150m)의 평균 토지 평당가(1억 2,037만원)는 2026년 실거래 평균 대비 약 43.8% 높게 형성돼 있어, 매수자는 호가보다 실거래 사례를 기준으로 접근할 필요가 있다.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대장홍대선(2025.12 착공, 2031년 준공목표)과 철도지하화 통합개발(타당성조사 단계) 등 교통 호재가 중장기적으로 거론되나, 실현까지는 수년이 소요될 전망이다.</a:t>
            </a:r>
            <a:endParaRPr lang="en-US" sz="10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382FF60-1464-4550-8900-170FB9928746}"/>
              </a:ext>
            </a:extLst>
          </p:cNvPr>
          <p:cNvSpPr/>
          <p:nvPr/>
        </p:nvSpPr>
        <p:spPr>
          <a:xfrm>
            <a:off x="-319998" y="6393310"/>
            <a:ext cx="7587117" cy="428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8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</a:t>
            </a:r>
            <a:r>
              <a:rPr lang="ko-KR" altLang="en-US" sz="1049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                                                                         </a:t>
            </a:r>
            <a:r>
              <a:rPr lang="ko-KR" altLang="en-US" sz="867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대한민국   빌딩시장의 가치를 높이는  선도기업이   되도록 최선을 다하겠습니다</a:t>
            </a:r>
            <a:r>
              <a:rPr lang="en-US" altLang="ko-KR" sz="867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                                                                    </a:t>
            </a:r>
            <a:r>
              <a:rPr lang="ko-KR" altLang="en-US" sz="867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endParaRPr lang="ko-KR" altLang="en-US" sz="867" dirty="0">
              <a:solidFill>
                <a:schemeClr val="bg1"/>
              </a:solidFill>
              <a:ea typeface="KoPubWorld돋움체 Medium" panose="00000600000000000000" pitchFamily="2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4210E9B-28DC-4F2B-90BD-FDFD39354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170" y="6471992"/>
            <a:ext cx="1042820" cy="2296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93992" y="3200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chemeClr val="bg1">
                    <a:lumMod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9AB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852928"/>
            <a:ext cx="8988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상권 분석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7616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홍대입구역 접근성부터 특화골목, 개발호재까지</a:t>
            </a:r>
            <a:endParaRPr lang="en-US" sz="1250" dirty="0">
              <a:solidFill>
                <a:schemeClr val="bg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연남동을 둘러싼 입지와 상권 구조를 살펴본다</a:t>
            </a:r>
            <a:endParaRPr lang="en-US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 3"/>
          <p:cNvSpPr/>
          <p:nvPr/>
        </p:nvSpPr>
        <p:spPr>
          <a:xfrm>
            <a:off x="457200" y="292608"/>
            <a:ext cx="8988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9AB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GROWTH DRIVERS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988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개발호재 종합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988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연남동을 둘러싸고 동시에 진행 중인 교통·제도·트렌드 호재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950645"/>
            <a:ext cx="2874264" cy="1737360"/>
          </a:xfrm>
          <a:prstGeom prst="roundRect">
            <a:avLst>
              <a:gd name="adj" fmla="val 2632"/>
            </a:avLst>
          </a:prstGeom>
          <a:solidFill>
            <a:srgbClr val="132A4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33525"/>
            <a:ext cx="365760" cy="365760"/>
          </a:xfrm>
          <a:prstGeom prst="ellipse">
            <a:avLst/>
          </a:prstGeom>
          <a:solidFill>
            <a:srgbClr val="29ABE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3352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09013"/>
            <a:ext cx="25085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대장홍대선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993061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 대장지구~홍대입구역 20.1km, 12개 정차역. 2025.12 착공,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2031년 준공목표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05784" y="1950645"/>
            <a:ext cx="2874264" cy="1737360"/>
          </a:xfrm>
          <a:prstGeom prst="roundRect">
            <a:avLst>
              <a:gd name="adj" fmla="val 2632"/>
            </a:avLst>
          </a:prstGeom>
          <a:solidFill>
            <a:srgbClr val="132A45"/>
          </a:solidFill>
          <a:ln/>
        </p:spPr>
      </p:sp>
      <p:sp>
        <p:nvSpPr>
          <p:cNvPr id="14" name="Shape 12"/>
          <p:cNvSpPr/>
          <p:nvPr/>
        </p:nvSpPr>
        <p:spPr>
          <a:xfrm>
            <a:off x="3788664" y="2133525"/>
            <a:ext cx="365760" cy="365760"/>
          </a:xfrm>
          <a:prstGeom prst="ellipse">
            <a:avLst/>
          </a:prstGeom>
          <a:solidFill>
            <a:srgbClr val="1FAE7E"/>
          </a:solidFill>
          <a:ln/>
        </p:spPr>
      </p:sp>
      <p:sp>
        <p:nvSpPr>
          <p:cNvPr id="15" name="Text 13"/>
          <p:cNvSpPr/>
          <p:nvPr/>
        </p:nvSpPr>
        <p:spPr>
          <a:xfrm>
            <a:off x="3788664" y="213352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88664" y="2609013"/>
            <a:ext cx="25085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철도지하화 통합개발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88664" y="2993061"/>
            <a:ext cx="26913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경의선 구간 포함, 서울시 2024.10 발표. 국토부 2026.3까지 타당성조사 진행중(미확정)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62928" y="1950645"/>
            <a:ext cx="2874264" cy="1737360"/>
          </a:xfrm>
          <a:prstGeom prst="roundRect">
            <a:avLst>
              <a:gd name="adj" fmla="val 2632"/>
            </a:avLst>
          </a:prstGeom>
          <a:solidFill>
            <a:srgbClr val="132A45"/>
          </a:solidFill>
          <a:ln/>
        </p:spPr>
      </p:sp>
      <p:sp>
        <p:nvSpPr>
          <p:cNvPr id="19" name="Shape 17"/>
          <p:cNvSpPr/>
          <p:nvPr/>
        </p:nvSpPr>
        <p:spPr>
          <a:xfrm>
            <a:off x="6845808" y="2133525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845808" y="213352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45808" y="2609013"/>
            <a:ext cx="25085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마포구 지구단위계획 재정비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45808" y="2993061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연남동지구 등 높이기준 재정비, 역세권 복합개발 인센티브(2026년 추진)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3852597"/>
            <a:ext cx="2874264" cy="1737360"/>
          </a:xfrm>
          <a:prstGeom prst="roundRect">
            <a:avLst>
              <a:gd name="adj" fmla="val 2632"/>
            </a:avLst>
          </a:prstGeom>
          <a:solidFill>
            <a:srgbClr val="132A45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035477"/>
            <a:ext cx="365760" cy="365760"/>
          </a:xfrm>
          <a:prstGeom prst="ellipse">
            <a:avLst/>
          </a:prstGeom>
          <a:solidFill>
            <a:srgbClr val="8E6FC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3547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510965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라멘성지 트렌드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895013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SNS 기반 신규 소비 </a:t>
            </a:r>
            <a:r>
              <a:rPr lang="en-US" sz="10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트렌드로</a:t>
            </a: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</a:t>
            </a:r>
            <a:endParaRPr lang="en-US" sz="100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화제성 유지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34356" y="3852597"/>
            <a:ext cx="3019044" cy="1737360"/>
          </a:xfrm>
          <a:prstGeom prst="roundRect">
            <a:avLst>
              <a:gd name="adj" fmla="val 2632"/>
            </a:avLst>
          </a:prstGeom>
          <a:solidFill>
            <a:srgbClr val="132A45"/>
          </a:solidFill>
          <a:ln/>
        </p:spPr>
      </p:sp>
      <p:sp>
        <p:nvSpPr>
          <p:cNvPr id="29" name="Shape 27"/>
          <p:cNvSpPr/>
          <p:nvPr/>
        </p:nvSpPr>
        <p:spPr>
          <a:xfrm>
            <a:off x="5317236" y="4035477"/>
            <a:ext cx="365760" cy="365760"/>
          </a:xfrm>
          <a:prstGeom prst="ellipse">
            <a:avLst/>
          </a:prstGeom>
          <a:solidFill>
            <a:srgbClr val="E05B5B"/>
          </a:solidFill>
          <a:ln/>
        </p:spPr>
      </p:sp>
      <p:sp>
        <p:nvSpPr>
          <p:cNvPr id="30" name="Text 28"/>
          <p:cNvSpPr/>
          <p:nvPr/>
        </p:nvSpPr>
        <p:spPr>
          <a:xfrm>
            <a:off x="5317236" y="403547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17236" y="4510965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플래그십 스토어 진출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17236" y="4895013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오프라인 </a:t>
            </a:r>
            <a:r>
              <a:rPr lang="en-US" sz="10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</a:t>
            </a: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</a:t>
            </a:r>
            <a:endParaRPr lang="en-US" sz="100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따른 임차 수요 증가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5806440"/>
            <a:ext cx="8988552" cy="530352"/>
          </a:xfrm>
          <a:prstGeom prst="roundRect">
            <a:avLst>
              <a:gd name="adj" fmla="val 8621"/>
            </a:avLst>
          </a:prstGeom>
          <a:solidFill>
            <a:srgbClr val="132A45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95274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9527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9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POINT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27632" y="5852160"/>
            <a:ext cx="7662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연남동은 직접적 재개발 구역은 아니지만, 교통·제도·트렌드 3개 축이 동시에 진행 중이다.</a:t>
            </a:r>
            <a:endParaRPr lang="en-US" sz="105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047335-21BD-473E-AC6F-26DFD1C8EE28}"/>
              </a:ext>
            </a:extLst>
          </p:cNvPr>
          <p:cNvSpPr/>
          <p:nvPr/>
        </p:nvSpPr>
        <p:spPr>
          <a:xfrm>
            <a:off x="-319998" y="6393310"/>
            <a:ext cx="7587117" cy="428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8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</a:t>
            </a:r>
            <a:r>
              <a:rPr lang="ko-KR" altLang="en-US" sz="1049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                                                                         </a:t>
            </a:r>
            <a:r>
              <a:rPr lang="ko-KR" altLang="en-US" sz="867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대한민국   빌딩시장의 가치를 높이는  선도기업이   되도록 최선을 다하겠습니다</a:t>
            </a:r>
            <a:r>
              <a:rPr lang="en-US" altLang="ko-KR" sz="867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                                                                    </a:t>
            </a:r>
            <a:r>
              <a:rPr lang="ko-KR" altLang="en-US" sz="867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endParaRPr lang="ko-KR" altLang="en-US" sz="867" dirty="0">
              <a:solidFill>
                <a:schemeClr val="bg1"/>
              </a:solidFill>
              <a:ea typeface="KoPubWorld돋움체 Medium" panose="00000600000000000000" pitchFamily="2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0DC5805D-5F33-4FFC-942A-705114EE3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170" y="6471992"/>
            <a:ext cx="1042820" cy="2296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 3"/>
          <p:cNvSpPr/>
          <p:nvPr/>
        </p:nvSpPr>
        <p:spPr>
          <a:xfrm>
            <a:off x="457200" y="292608"/>
            <a:ext cx="8988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9AB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988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연남동 상권 및 건물가치 SWOT 분석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988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7월 기준 종합 진단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379976" cy="1874520"/>
          </a:xfrm>
          <a:prstGeom prst="roundRect">
            <a:avLst>
              <a:gd name="adj" fmla="val 2439"/>
            </a:avLst>
          </a:prstGeom>
          <a:solidFill>
            <a:srgbClr val="10251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27632"/>
            <a:ext cx="329184" cy="329184"/>
          </a:xfrm>
          <a:prstGeom prst="ellipse">
            <a:avLst/>
          </a:prstGeom>
          <a:solidFill>
            <a:srgbClr val="1FAE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27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0704" y="1627632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Strengths 강점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1564" y="2175011"/>
            <a:ext cx="43753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홍대입구역(3노선 환승) 중심 압도적 유동인구, 경의선숲길(연트럴파크)이라는 대체불가 산책로 자산</a:t>
            </a:r>
            <a:endParaRPr lang="en-US" sz="1000" dirty="0">
              <a:solidFill>
                <a:schemeClr val="bg1"/>
              </a:solidFill>
            </a:endParaRPr>
          </a:p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실거래 평당가 상승 흐름(전년比 +10.4%)</a:t>
            </a:r>
            <a:endParaRPr lang="en-US" sz="1000" dirty="0">
              <a:solidFill>
                <a:schemeClr val="bg1"/>
              </a:solidFill>
            </a:endParaRPr>
          </a:p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SNS발 트렌드(라멘 성지)로 지속적 화제성 확보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65776" y="1463040"/>
            <a:ext cx="4379976" cy="1874520"/>
          </a:xfrm>
          <a:prstGeom prst="roundRect">
            <a:avLst>
              <a:gd name="adj" fmla="val 2439"/>
            </a:avLst>
          </a:prstGeom>
          <a:solidFill>
            <a:srgbClr val="2A1418"/>
          </a:solidFill>
          <a:ln/>
        </p:spPr>
      </p:sp>
      <p:sp>
        <p:nvSpPr>
          <p:cNvPr id="14" name="Shape 12"/>
          <p:cNvSpPr/>
          <p:nvPr/>
        </p:nvSpPr>
        <p:spPr>
          <a:xfrm>
            <a:off x="5248656" y="1627632"/>
            <a:ext cx="329184" cy="329184"/>
          </a:xfrm>
          <a:prstGeom prst="ellipse">
            <a:avLst/>
          </a:prstGeom>
          <a:solidFill>
            <a:srgbClr val="E05B5B"/>
          </a:solidFill>
          <a:ln/>
        </p:spPr>
      </p:sp>
      <p:sp>
        <p:nvSpPr>
          <p:cNvPr id="15" name="Text 13"/>
          <p:cNvSpPr/>
          <p:nvPr/>
        </p:nvSpPr>
        <p:spPr>
          <a:xfrm>
            <a:off x="5248656" y="1627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1627632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Weaknesses 약점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96066" y="2103225"/>
            <a:ext cx="4142105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실거래(21건)와 매물(17건)의 지번이 전혀 겹치지 않아 동일 건물 기준 가격 비교 데이터 부재</a:t>
            </a:r>
            <a:endParaRPr lang="en-US" sz="1000" dirty="0">
              <a:solidFill>
                <a:schemeClr val="bg1"/>
              </a:solidFill>
            </a:endParaRPr>
          </a:p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 의존형 상권 특성상 업종 쏠림 변동성 큼</a:t>
            </a:r>
            <a:endParaRPr lang="en-US" sz="1000" dirty="0">
              <a:solidFill>
                <a:schemeClr val="bg1"/>
              </a:solidFill>
            </a:endParaRPr>
          </a:p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규모가 대체로 소형(76~500㎡대)이라 대형 개발엔 합필 필요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073" y="3502152"/>
            <a:ext cx="4379976" cy="1874520"/>
          </a:xfrm>
          <a:prstGeom prst="roundRect">
            <a:avLst>
              <a:gd name="adj" fmla="val 2439"/>
            </a:avLst>
          </a:prstGeom>
          <a:solidFill>
            <a:srgbClr val="0F2138"/>
          </a:solidFill>
          <a:ln/>
        </p:spPr>
      </p:sp>
      <p:sp>
        <p:nvSpPr>
          <p:cNvPr id="19" name="Shape 17"/>
          <p:cNvSpPr/>
          <p:nvPr/>
        </p:nvSpPr>
        <p:spPr>
          <a:xfrm>
            <a:off x="745057" y="3666744"/>
            <a:ext cx="329184" cy="329184"/>
          </a:xfrm>
          <a:prstGeom prst="ellipse">
            <a:avLst/>
          </a:prstGeom>
          <a:solidFill>
            <a:srgbClr val="29ABE2"/>
          </a:solidFill>
          <a:ln/>
        </p:spPr>
      </p:sp>
      <p:sp>
        <p:nvSpPr>
          <p:cNvPr id="20" name="Text 18"/>
          <p:cNvSpPr/>
          <p:nvPr/>
        </p:nvSpPr>
        <p:spPr>
          <a:xfrm>
            <a:off x="745057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65681" y="3666744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Opportunities 기회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6541" y="4081969"/>
            <a:ext cx="404615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대장홍대선 착공(2031년 홍대입구역 4노선 환승역화)·철도지하화 통합개발 실현 시 연트럴파크 모델 확장 가능성</a:t>
            </a:r>
            <a:endParaRPr lang="en-US" sz="1000" dirty="0">
              <a:solidFill>
                <a:schemeClr val="bg1"/>
              </a:solidFill>
            </a:endParaRPr>
          </a:p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마포구 지구단위계획 재정비로 역세권 복합개발 인센티브 도입 추진</a:t>
            </a:r>
            <a:endParaRPr lang="en-US" sz="1000" dirty="0">
              <a:solidFill>
                <a:schemeClr val="bg1"/>
              </a:solidFill>
            </a:endParaRPr>
          </a:p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인접 필지 동시매물(147·260·113번지)로 합필 개발 여지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65776" y="3502152"/>
            <a:ext cx="4379976" cy="1874520"/>
          </a:xfrm>
          <a:prstGeom prst="roundRect">
            <a:avLst>
              <a:gd name="adj" fmla="val 2439"/>
            </a:avLst>
          </a:prstGeom>
          <a:solidFill>
            <a:srgbClr val="2A2010"/>
          </a:solidFill>
          <a:ln/>
        </p:spPr>
      </p:sp>
      <p:sp>
        <p:nvSpPr>
          <p:cNvPr id="24" name="Shape 22"/>
          <p:cNvSpPr/>
          <p:nvPr/>
        </p:nvSpPr>
        <p:spPr>
          <a:xfrm>
            <a:off x="5248656" y="3666744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5248656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3666744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Threats 위협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96066" y="4069080"/>
            <a:ext cx="409423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대장홍대선(2031)·철도지하화(2028 착공검토) 모두 수년 이상 남은 중장기 계획으로 선반영 리스크</a:t>
            </a:r>
            <a:endParaRPr lang="en-US" sz="1000" dirty="0">
              <a:solidFill>
                <a:schemeClr val="bg1"/>
              </a:solidFill>
            </a:endParaRPr>
          </a:p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호가가 실거래 대비 약 44% 높아 고점매수 리스크</a:t>
            </a:r>
            <a:endParaRPr lang="en-US" sz="1000" dirty="0">
              <a:solidFill>
                <a:schemeClr val="bg1"/>
              </a:solidFill>
            </a:endParaRPr>
          </a:p>
          <a:p>
            <a:pPr marL="139700" indent="-1397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통계로 교차검증되지 않은 민간 데이터 의존도 존재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5806440"/>
            <a:ext cx="8988552" cy="530352"/>
          </a:xfrm>
          <a:prstGeom prst="roundRect">
            <a:avLst>
              <a:gd name="adj" fmla="val 8621"/>
            </a:avLst>
          </a:prstGeom>
          <a:solidFill>
            <a:srgbClr val="132A4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595274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59527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9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POINT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27632" y="5852160"/>
            <a:ext cx="7662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강점·기회는 역세권 입지와 트렌드 모멘텀에서, 약점·위협은 데이터 정합성과 호가-실거래 괴리에서 비롯된다.</a:t>
            </a:r>
            <a:endParaRPr lang="en-US" sz="105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D3F4660-9A02-4C15-B38A-E3EFC7E48C4C}"/>
              </a:ext>
            </a:extLst>
          </p:cNvPr>
          <p:cNvSpPr/>
          <p:nvPr/>
        </p:nvSpPr>
        <p:spPr>
          <a:xfrm>
            <a:off x="-319998" y="6393310"/>
            <a:ext cx="7587117" cy="428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8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</a:t>
            </a:r>
            <a:r>
              <a:rPr lang="ko-KR" altLang="en-US" sz="1049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                                                                         </a:t>
            </a:r>
            <a:r>
              <a:rPr lang="ko-KR" altLang="en-US" sz="867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대한민국   빌딩시장의 가치를 높이는  선도기업이   되도록 최선을 다하겠습니다</a:t>
            </a:r>
            <a:r>
              <a:rPr lang="en-US" altLang="ko-KR" sz="867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                                                                    </a:t>
            </a:r>
            <a:r>
              <a:rPr lang="ko-KR" altLang="en-US" sz="867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endParaRPr lang="ko-KR" altLang="en-US" sz="867" dirty="0">
              <a:solidFill>
                <a:schemeClr val="bg1"/>
              </a:solidFill>
              <a:ea typeface="KoPubWorld돋움체 Medium" panose="00000600000000000000" pitchFamily="2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509A951D-D4E8-4A30-B658-3A5D2049F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170" y="6471992"/>
            <a:ext cx="1042820" cy="2296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