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면적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1층</c:v>
                  </c:pt>
                  <c:pt idx="1">
                    <c:v>2층</c:v>
                  </c:pt>
                  <c:pt idx="2">
                    <c:v>3층</c:v>
                  </c:pt>
                  <c:pt idx="3">
                    <c:v>4층</c:v>
                  </c:pt>
                  <c:pt idx="4">
                    <c:v>지하1층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</c:v>
                </c:pt>
                <c:pt idx="1">
                  <c:v>148</c:v>
                </c:pt>
                <c:pt idx="2">
                  <c:v>148</c:v>
                </c:pt>
                <c:pt idx="3">
                  <c:v>140</c:v>
                </c:pt>
                <c:pt idx="4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평당가지수</c:v>
                </c:pt>
              </c:strCache>
            </c:strRef>
          </c:tx>
          <c:spPr>
            <a:solidFill>
              <a:srgbClr val="A855F7"/>
            </a:solidFill>
            <a:ln w="38100" cap="flat">
              <a:solidFill>
                <a:srgbClr val="A855F7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55F7"/>
              </a:solidFill>
              <a:ln w="9525" cap="flat">
                <a:solidFill>
                  <a:srgbClr val="A855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2025.Q2</c:v>
                  </c:pt>
                  <c:pt idx="1">
                    <c:v>2025.Q3</c:v>
                  </c:pt>
                  <c:pt idx="2">
                    <c:v>2025.Q4</c:v>
                  </c:pt>
                  <c:pt idx="3">
                    <c:v>2026.Q1</c:v>
                  </c:pt>
                  <c:pt idx="4">
                    <c:v>2026.Q2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</c:v>
                </c:pt>
                <c:pt idx="1">
                  <c:v>138</c:v>
                </c:pt>
                <c:pt idx="2">
                  <c:v>141</c:v>
                </c:pt>
                <c:pt idx="3">
                  <c:v>149</c:v>
                </c:pt>
                <c:pt idx="4">
                  <c:v>156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13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건물 수</c:v>
                </c:pt>
              </c:strCache>
            </c:strRef>
          </c:tx>
          <c:spPr>
            <a:solidFill>
              <a:srgbClr val="2A3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~1980</c:v>
                  </c:pt>
                  <c:pt idx="1">
                    <c:v>1980s</c:v>
                  </c:pt>
                  <c:pt idx="2">
                    <c:v>1990s</c:v>
                  </c:pt>
                  <c:pt idx="3">
                    <c:v>2000s</c:v>
                  </c:pt>
                  <c:pt idx="4">
                    <c:v>2010s</c:v>
                  </c:pt>
                  <c:pt idx="5">
                    <c:v>2020~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118</c:v>
                </c:pt>
                <c:pt idx="2">
                  <c:v>203</c:v>
                </c:pt>
                <c:pt idx="3">
                  <c:v>156</c:v>
                </c:pt>
                <c:pt idx="4">
                  <c:v>97</c:v>
                </c:pt>
                <c:pt idx="5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공시가격(억원)</c:v>
                </c:pt>
              </c:strCache>
            </c:strRef>
          </c:tx>
          <c:spPr>
            <a:solidFill>
              <a:srgbClr val="A855F7"/>
            </a:solidFill>
            <a:ln w="38100" cap="flat">
              <a:solidFill>
                <a:srgbClr val="A855F7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55F7"/>
              </a:solidFill>
              <a:ln w="9525" cap="flat">
                <a:solidFill>
                  <a:srgbClr val="A855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8.2</c:v>
                </c:pt>
                <c:pt idx="1">
                  <c:v>8.9</c:v>
                </c:pt>
                <c:pt idx="2">
                  <c:v>9.6</c:v>
                </c:pt>
                <c:pt idx="3">
                  <c:v>9.8</c:v>
                </c:pt>
                <c:pt idx="4">
                  <c:v>10.1</c:v>
                </c:pt>
                <c:pt idx="5">
                  <c:v>10.7</c:v>
                </c:pt>
                <c:pt idx="6">
                  <c:v>11.2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6213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공실률(%)</c:v>
                </c:pt>
              </c:strCache>
            </c:strRef>
          </c:tx>
          <c:spPr>
            <a:solidFill>
              <a:srgbClr val="2A395C"/>
            </a:solidFill>
            <a:ln w="38100" cap="flat">
              <a:solidFill>
                <a:srgbClr val="2A395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395C"/>
              </a:solidFill>
              <a:ln w="9525" cap="flat">
                <a:solidFill>
                  <a:srgbClr val="2A3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24.Q3</c:v>
                  </c:pt>
                  <c:pt idx="1">
                    <c:v>24.Q4</c:v>
                  </c:pt>
                  <c:pt idx="2">
                    <c:v>25.Q1</c:v>
                  </c:pt>
                  <c:pt idx="3">
                    <c:v>25.Q2</c:v>
                  </c:pt>
                  <c:pt idx="4">
                    <c:v>25.Q3</c:v>
                  </c:pt>
                  <c:pt idx="5">
                    <c:v>25.Q4</c:v>
                  </c:pt>
                  <c:pt idx="6">
                    <c:v>26.Q1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5.1</c:v>
                </c:pt>
                <c:pt idx="1">
                  <c:v>4.9</c:v>
                </c:pt>
                <c:pt idx="2">
                  <c:v>4.6</c:v>
                </c:pt>
                <c:pt idx="3">
                  <c:v>4.4</c:v>
                </c:pt>
                <c:pt idx="4">
                  <c:v>4.5</c:v>
                </c:pt>
                <c:pt idx="5">
                  <c:v>4.2</c:v>
                </c:pt>
                <c:pt idx="6">
                  <c:v>4.3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13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점포 수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한식음식점</c:v>
                  </c:pt>
                  <c:pt idx="1">
                    <c:v>커피-음료</c:v>
                  </c:pt>
                  <c:pt idx="2">
                    <c:v>일반의류</c:v>
                  </c:pt>
                  <c:pt idx="3">
                    <c:v>미용실</c:v>
                  </c:pt>
                  <c:pt idx="4">
                    <c:v>호프-간이주점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31</c:v>
                </c:pt>
                <c:pt idx="2">
                  <c:v>26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월</c:v>
                  </c:pt>
                  <c:pt idx="1">
                    <c:v>화</c:v>
                  </c:pt>
                  <c:pt idx="2">
                    <c:v>수</c:v>
                  </c:pt>
                  <c:pt idx="3">
                    <c:v>목</c:v>
                  </c:pt>
                  <c:pt idx="4">
                    <c:v>금</c:v>
                  </c:pt>
                  <c:pt idx="5">
                    <c:v>토</c:v>
                  </c:pt>
                  <c:pt idx="6">
                    <c:v>일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9</c:v>
                </c:pt>
                <c:pt idx="2">
                  <c:v>8.7</c:v>
                </c:pt>
                <c:pt idx="3">
                  <c:v>10.1</c:v>
                </c:pt>
                <c:pt idx="4">
                  <c:v>13.5</c:v>
                </c:pt>
                <c:pt idx="5">
                  <c:v>22</c:v>
                </c:pt>
                <c:pt idx="6">
                  <c:v>12.5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1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743200"/>
            <a:ext cx="6858000" cy="6858000"/>
          </a:xfrm>
          <a:prstGeom prst="ellipse">
            <a:avLst/>
          </a:prstGeom>
          <a:solidFill>
            <a:srgbClr val="2A3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657600"/>
            <a:ext cx="5029200" cy="5029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389120"/>
            <a:ext cx="3566160" cy="356616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분석 리포트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건축물 · 실거래가 · 상권 통합 분석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확인된 건물 실거래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0" y="5029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 대비 현재 호가 프리미엄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5029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3노선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환승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30일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분석 리포트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입지 및 건축물 분석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22576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95144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24912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09981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건축물 개요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502152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및 입지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0448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입지 및 교통 여건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43400" y="1417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시장 데이터 분석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1920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192024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89280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실거래가 동향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23225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2322576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295144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동단위 시장 통계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27249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4343400" y="2724912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697480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공시가격 시계열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43400" y="3127248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127248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09981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개황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43400" y="3529584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3529584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502152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상권영역 지도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43400" y="3931920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3931920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90448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특성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43400" y="4334256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334256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4306824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트렌드 지표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343400" y="4736592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46" name="Text 44"/>
          <p:cNvSpPr/>
          <p:nvPr/>
        </p:nvSpPr>
        <p:spPr>
          <a:xfrm>
            <a:off x="4343400" y="4736592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4709160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개발호재 종합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343400" y="5138928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49" name="Text 47"/>
          <p:cNvSpPr/>
          <p:nvPr/>
        </p:nvSpPr>
        <p:spPr>
          <a:xfrm>
            <a:off x="4343400" y="5138928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0600" y="511149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상권 상세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38160" y="1417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종합 평가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138160" y="1920240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53" name="Text 51"/>
          <p:cNvSpPr/>
          <p:nvPr/>
        </p:nvSpPr>
        <p:spPr>
          <a:xfrm>
            <a:off x="8138160" y="1920240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95360" y="189280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분석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138160" y="2322576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6213E"/>
          </a:solidFill>
          <a:ln/>
        </p:spPr>
      </p:sp>
      <p:sp>
        <p:nvSpPr>
          <p:cNvPr id="56" name="Text 54"/>
          <p:cNvSpPr/>
          <p:nvPr/>
        </p:nvSpPr>
        <p:spPr>
          <a:xfrm>
            <a:off x="8138160" y="2322576"/>
            <a:ext cx="3657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95360" y="2295144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의견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목차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9844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건물은 1992년 사용승인된 제2종근린생활시설로, 준공 후 33년이 경과한 노후 건물이며 내진설계는 적용되지 않았습니다. 최근 6개월 내 인근 실거래가는 15.2억원 수준이며, 반경 500m 내 312개 상가업소가 밀집한 활발한 상권(홍대입구역 3번 골목상권)에 위치합니다.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71576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28498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사용승인일 (경과연수)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54421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33년 경과 · 노후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12920" y="260604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50080" y="271576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미적용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50080" y="328498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내진 설계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0080" y="354421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구조: 철근콘크리트조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77200" y="260604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14360" y="271576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4360" y="328498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실거래가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14360" y="354421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3층 · 84㎡ · 2026.05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17880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74802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공실률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00725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중대형 상가 · 2026년 2분기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12920" y="406908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50080" y="417880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312개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50080" y="474802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반경 500m 상가업소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50080" y="500725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소상공인시장진흥공단 기준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77200" y="4069080"/>
            <a:ext cx="353568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14360" y="4178808"/>
            <a:ext cx="3261360" cy="5554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84.8억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4360" y="4748022"/>
            <a:ext cx="3261360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추정매출(월)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14360" y="5007254"/>
            <a:ext cx="3261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3번 골목상권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핵심 요약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건축물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126480" cy="5120640"/>
          </a:xfrm>
          <a:prstGeom prst="roundRect">
            <a:avLst>
              <a:gd name="adj" fmla="val 2143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대지면적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71846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41732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건축면적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49040" y="171846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198.7㎡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0980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연면적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1094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612.3㎡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20980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건폐율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51094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00228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용적률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30342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196.1%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00228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330342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철근콘크리트조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09590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슬래브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379476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지상/지하층수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409590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4층 / 1층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58724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사용승인일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88838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1992.11.03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458724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488838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1991.05.20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37972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착공일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68086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1991.06.15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49040" y="5379720"/>
            <a:ext cx="260604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내진설계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49040" y="5680862"/>
            <a:ext cx="2606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미적용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층별 면적 (㎡)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858000" y="1554480"/>
          <a:ext cx="4754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685800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용도지역 · 지구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858000" y="4617720"/>
            <a:ext cx="1431036" cy="384048"/>
          </a:xfrm>
          <a:prstGeom prst="roundRect">
            <a:avLst>
              <a:gd name="adj" fmla="val 50000"/>
            </a:avLst>
          </a:prstGeom>
          <a:solidFill>
            <a:srgbClr val="E8ECF2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4617720"/>
            <a:ext cx="14310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제2종일반주거지역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58000" y="512064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E8ECF2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0" y="512064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지구단위계획구역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858000" y="562356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E8ECF2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562356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대공방어협조구역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858000" y="612648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E8ECF2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0" y="612648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가축사육제한구역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건축물 개요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및 입지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949440" cy="5120640"/>
          </a:xfrm>
          <a:prstGeom prst="roundRect">
            <a:avLst>
              <a:gd name="adj" fmla="val 2143"/>
            </a:avLst>
          </a:prstGeom>
          <a:solidFill>
            <a:srgbClr val="EDEFF2"/>
          </a:solidFill>
          <a:ln w="12700">
            <a:solidFill>
              <a:srgbClr val="DCE1E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32918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이미지 삽입 영역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(지오코딩 좌표 + 인근 지하철 마커 스크린샷)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0" y="118872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0100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연남동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157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연남동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인근 지하철역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97180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6992" y="3154680"/>
            <a:ext cx="402336" cy="402336"/>
          </a:xfrm>
          <a:prstGeom prst="ellipse">
            <a:avLst/>
          </a:prstGeom>
          <a:solidFill>
            <a:srgbClr val="77C4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3154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경의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85632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3번 출구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85632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경의중앙선 · 도보 약 180m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0" y="388620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6992" y="4069080"/>
            <a:ext cx="402336" cy="402336"/>
          </a:xfrm>
          <a:prstGeom prst="ellipse">
            <a:avLst/>
          </a:prstGeom>
          <a:solidFill>
            <a:srgbClr val="0090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4069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공항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85632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3번 출구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85632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공항철도 · 도보 약 180m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0" y="480060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6992" y="4983480"/>
            <a:ext cx="402336" cy="402336"/>
          </a:xfrm>
          <a:prstGeom prst="ellipse">
            <a:avLst/>
          </a:prstGeom>
          <a:solidFill>
            <a:srgbClr val="00A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4983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85632" y="4892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2번 출구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85632" y="5212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2호선 · 도보 약 340m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위치 및 입지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입지 및 교통 여건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입지 자산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5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2호선·경의중앙선·공항철도 3개 노선 환승역으로, 일평균 승하차 약 15만~19만명 수준이다. 인근역 대비 압도적으로 높은 유동인구를 기록한다.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2956560" cy="594360"/>
          </a:xfrm>
          <a:prstGeom prst="roundRect">
            <a:avLst>
              <a:gd name="adj" fmla="val 15385"/>
            </a:avLst>
          </a:prstGeom>
          <a:solidFill>
            <a:srgbClr val="E8ECF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846320"/>
            <a:ext cx="268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노선 환승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129784"/>
            <a:ext cx="268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도보 3분 이내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2480" y="169164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02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02480" y="233172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경의선숲길(연트럴파크)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2480" y="2834640"/>
            <a:ext cx="295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3번 출구 바로 앞에서 시작하는 선형공원으로, 2016년 전 구간 조성이 완료됐다. 상권의 물리적 축을 이룬다.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02480" y="4800600"/>
            <a:ext cx="2956560" cy="594360"/>
          </a:xfrm>
          <a:prstGeom prst="roundRect">
            <a:avLst>
              <a:gd name="adj" fmla="val 15385"/>
            </a:avLst>
          </a:prstGeom>
          <a:solidFill>
            <a:srgbClr val="E8ECF2"/>
          </a:solidFill>
          <a:ln/>
        </p:spPr>
      </p:sp>
      <p:sp>
        <p:nvSpPr>
          <p:cNvPr id="18" name="Text 16"/>
          <p:cNvSpPr/>
          <p:nvPr/>
        </p:nvSpPr>
        <p:spPr>
          <a:xfrm>
            <a:off x="4739640" y="4846320"/>
            <a:ext cx="268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3번 출구 직결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9640" y="5129784"/>
            <a:ext cx="268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구간 조성 완료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7680" y="141732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169164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2000" y="233172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대장홍대선(예정)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2834640"/>
            <a:ext cx="295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12월 착공, 2031년 준공 목표. 개통 시 홍대입구역은 기존 3개 노선에 더해 4개 노선 환승역으로 격상될 예정이다.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82000" y="4800600"/>
            <a:ext cx="2956560" cy="594360"/>
          </a:xfrm>
          <a:prstGeom prst="roundRect">
            <a:avLst>
              <a:gd name="adj" fmla="val 15385"/>
            </a:avLst>
          </a:prstGeom>
          <a:solidFill>
            <a:srgbClr val="E8ECF2"/>
          </a:solidFill>
          <a:ln/>
        </p:spPr>
      </p:sp>
      <p:sp>
        <p:nvSpPr>
          <p:cNvPr id="26" name="Text 24"/>
          <p:cNvSpPr/>
          <p:nvPr/>
        </p:nvSpPr>
        <p:spPr>
          <a:xfrm>
            <a:off x="8519160" y="4846320"/>
            <a:ext cx="268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2031년 준공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19160" y="5129784"/>
            <a:ext cx="268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노선 환승 예정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입지 및 교통 여건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실거래가 동향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거래 내역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전용면적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거래가격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2026.05.12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2026.02.03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2025.11.20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2025.08.07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2025.04.15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188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추이 (평당가 지수, 최근 5개 분기)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035040" y="1554480"/>
          <a:ext cx="5577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4206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6개월 인근 실거래가는 15.2억원 수준으로, 직전 동일 면적대 거래(13.8억) 대비 소폭 상승했습니다.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실거래가 동향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동단위 시장 통계 — 연남동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준공연도대별 건물 수 분포 (동 전체)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6642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28%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66760" y="2359152"/>
            <a:ext cx="310896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연남동 전체 건물 중 노후 순위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66760" y="266639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1992년 사용승인 기준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0" y="320040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200" y="338328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 전체 건물의 절반 이상이 1990~2000년대에 준공되어, 대상 건물과 유사한 노후도 구간에 밀집되어 있습니다. 재건축·리모델링 수요가 점진적으로 늘어날 가능성이 있는 지역입니다.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동단위 시장 통계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공시가격 시계열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공시가격 추이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변동률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402336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공시가격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전년대비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374904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818120" y="3749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7년간 연평균 약 5.5% 상승하며 꾸준한 우상향 흐름을 보이고 있습니다.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공시가격 시계열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개황 — 공실률 및 주변 업종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공실률 추이 (중대형 상가, 분기별)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반경 500m 업종 Top 5 (점포 수)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309360" y="15544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상권 개황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상권영역 지도 — 홍대입구역 3번 골목상권</a:t>
            </a:r>
            <a:endParaRPr lang="en-US" sz="2800" dirty="0"/>
          </a:p>
        </p:txBody>
      </p:sp>
      <p:pic>
        <p:nvPicPr>
          <p:cNvPr id="3" name="Image 0" descr="location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94360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5943600" cy="4754880"/>
          </a:xfrm>
          <a:prstGeom prst="roundRect">
            <a:avLst>
              <a:gd name="adj" fmla="val 1923"/>
            </a:avLst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016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OpenStreetMap 기반 위치 참고 지도(점선: 대상 건물 기준 반경 300m). 상권영역 경계 자체는 서울시 API가 중심좌표+면적만 제공해 정확한 폴리곤으로 표시할 수 없습니다.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766560" y="118872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95160" y="13533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유동인구 (도로변)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95160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적음  </a:t>
            </a:r>
            <a:pPr indent="0" marL="0">
              <a:buNone/>
            </a:pPr>
            <a:r>
              <a:rPr lang="en-US" sz="1400" b="1" dirty="0">
                <a:solidFill>
                  <a:srgbClr val="2A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359명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많음  </a:t>
            </a:r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2,932명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95160" y="2084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1분기 기준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66560" y="260604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27706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유동인구 (건물 내부)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적음  </a:t>
            </a:r>
            <a:pPr indent="0" marL="0">
              <a:buNone/>
            </a:pPr>
            <a:r>
              <a:rPr lang="en-US" sz="1400" b="1" dirty="0">
                <a:solidFill>
                  <a:srgbClr val="2A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0명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많음  </a:t>
            </a:r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608명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95160" y="35021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1분기 기준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0" y="402336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95160" y="41879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인구밀도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95160" y="4572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적음  </a:t>
            </a:r>
            <a:pPr indent="0" marL="0">
              <a:buNone/>
            </a:pPr>
            <a:r>
              <a:rPr lang="en-US" sz="1400" b="1" dirty="0">
                <a:solidFill>
                  <a:srgbClr val="2A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0명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많음  </a:t>
            </a:r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0명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5160" y="49194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1분기 기준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상권영역 지도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특성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상권의 성격과 특징 (공식 통계가 아닌 시장 관찰 기반)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7276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67335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50876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화교 상권에서 출발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화교 밀집 거주지의 개성있는 중식당들이 외부에 알려지며 상권의 초기 인지도를 형성했습니다.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920" y="137160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1520" y="157276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11" name="Shape 9"/>
          <p:cNvSpPr/>
          <p:nvPr/>
        </p:nvSpPr>
        <p:spPr>
          <a:xfrm>
            <a:off x="4642104" y="167335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998720" y="150876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홍대발 젠트리피케이션 유입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41520" y="210312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 앞 상권의 임대료 상승을 피해 넘어온 예술가·소상공인들이 상권의 개성을 형성했습니다.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137160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5800" y="157276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6384" y="167335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150876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청소년기 상권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05800" y="210312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로컬맛집·부티크·편집숍·팝업스토어 중심의 청소년기 상권으로, 개인 오너 매장 위주입니다.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0448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" y="400507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84048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20~30대 소비층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트렌드에 민감하고 SNS 확산력이 높은 20~30대 소비층이 상권 소비의 중심을 이룹니다.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70332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1520" y="390448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2104" y="400507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998720" y="384048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개성있는 골목 매장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41520" y="443484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여기서만 만날 수 있는 개성있는 매장들이 인근 골목 일대에 밀집해 있습니다.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7200" y="3703320"/>
            <a:ext cx="3535680" cy="210312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5800" y="3904488"/>
            <a:ext cx="329184" cy="329184"/>
          </a:xfrm>
          <a:prstGeom prst="ellipse">
            <a:avLst/>
          </a:prstGeom>
          <a:solidFill>
            <a:srgbClr val="E8D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406384" y="400507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8763000" y="384048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오너·디렉터 취향 매장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05800" y="4434840"/>
            <a:ext cx="307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표준화된 프랜차이즈보다 오너의 취향이 드러나는 소규모 매장이 소비자를 끌어들입니다.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상권 특성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트렌드 지표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데이터로 보는 상권 트렌드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94610" cy="1417320"/>
          </a:xfrm>
          <a:prstGeom prst="roundRect">
            <a:avLst>
              <a:gd name="adj" fmla="val 7742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2320290" cy="6377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51126"/>
            <a:ext cx="232029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#연남동라멘 SNS 게시물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48763"/>
            <a:ext cx="232029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기준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71850" y="1371600"/>
            <a:ext cx="2594610" cy="1417320"/>
          </a:xfrm>
          <a:prstGeom prst="roundRect">
            <a:avLst>
              <a:gd name="adj" fmla="val 7742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9010" y="1481328"/>
            <a:ext cx="2320290" cy="6377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31만+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9010" y="2151126"/>
            <a:ext cx="232029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#라멘맛집 관련 게시물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9010" y="2448763"/>
            <a:ext cx="232029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기준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5060" y="1371600"/>
            <a:ext cx="2594610" cy="1417320"/>
          </a:xfrm>
          <a:prstGeom prst="roundRect">
            <a:avLst>
              <a:gd name="adj" fmla="val 7742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2220" y="1481328"/>
            <a:ext cx="2320290" cy="6377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 9시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32220" y="2151126"/>
            <a:ext cx="232029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인기매장 오픈런·예약 시작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2220" y="2448763"/>
            <a:ext cx="232029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점심시간 전 마감 사례 다수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18270" y="1371600"/>
            <a:ext cx="2594610" cy="1417320"/>
          </a:xfrm>
          <a:prstGeom prst="roundRect">
            <a:avLst>
              <a:gd name="adj" fmla="val 7742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55430" y="1481328"/>
            <a:ext cx="2320290" cy="6377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20~30대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55430" y="2151126"/>
            <a:ext cx="232029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방문객 중심 소비층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55430" y="2448763"/>
            <a:ext cx="232029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 높은 업종과 궁합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콘텐츠 최적화 입지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오픈키친형 인테리어가 SNS 콘텐츠 생산에 최적화돼 있으며, 역세권·공원 인접 입지가 꾸준한 유동인구를 뒷받침합니다.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의존 리스크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38404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트렌드가 빠르게 순환하는 상권 특성상, 업종·임차인 구성의 변동성에 유의할 필요가 있습니다.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상권 트렌드 지표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개발호재 종합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상권을 둘러싸고 동시에 진행 중인 교통·제도·트렌드 호재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568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7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대장홍대선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07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부천 대장지구~홍대입구역 20.1km, 12개 정차역. 2025.12 착공, 2031년 준공 목표.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920" y="1417320"/>
            <a:ext cx="353568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1520" y="164592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4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1520" y="2240280"/>
            <a:ext cx="307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철도지하화 통합개발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520" y="2651760"/>
            <a:ext cx="307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경의선 구간 포함, 서울시 2024.10 발표. 국토부 타당성조사 진행 중(미확정).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1417320"/>
            <a:ext cx="353568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5800" y="164592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83058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5800" y="2240280"/>
            <a:ext cx="307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지구단위계획 재정비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5800" y="2651760"/>
            <a:ext cx="307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역세권 복합개발 인센티브 등 높이기준 재정비가 추진되고 있습니다.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3568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07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라멘성지 트렌드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07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기반 신규 소비 트렌드로 상권 화제성이 유지되고 있습니다.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931920"/>
            <a:ext cx="353568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1520" y="416052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454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41520" y="4754880"/>
            <a:ext cx="307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플래그십 스토어 진출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1520" y="5166360"/>
            <a:ext cx="307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오프라인 전략 고도화에 따른 임차 수요 증가가 나타나고 있습니다.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개발호재 종합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상권 상세 — 홍대입구역 3번 골목상권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35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98448"/>
            <a:ext cx="3261360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84.8억원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792224"/>
            <a:ext cx="326136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추정매출 (당월)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2920" y="1188720"/>
            <a:ext cx="3535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50080" y="1298448"/>
            <a:ext cx="3261360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885,714명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50080" y="1792224"/>
            <a:ext cx="326136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생활인구 (분기)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77200" y="1188720"/>
            <a:ext cx="3535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14360" y="1298448"/>
            <a:ext cx="3261360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10,650명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14360" y="1792224"/>
            <a:ext cx="326136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직장인구 (분기)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업종별 매출 Top 5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12064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당월 매출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일반의류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호프-간이주점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한식음식점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일반의원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일식음식점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035040" y="2606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요일별 매출 (억원)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035040" y="297180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서울 상권 상세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및 건물가치 종합 진단 · 2026년 7월 30일 기준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7820" cy="2400300"/>
          </a:xfrm>
          <a:prstGeom prst="roundRect">
            <a:avLst>
              <a:gd name="adj" fmla="val 3810"/>
            </a:avLst>
          </a:prstGeom>
          <a:solidFill>
            <a:srgbClr val="E3EEE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72768"/>
            <a:ext cx="402336" cy="402336"/>
          </a:xfrm>
          <a:prstGeom prst="ellipse">
            <a:avLst/>
          </a:prstGeom>
          <a:solidFill>
            <a:srgbClr val="3F7A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72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45034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강점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73152" cy="73152"/>
          </a:xfrm>
          <a:prstGeom prst="ellipse">
            <a:avLst/>
          </a:prstGeom>
          <a:solidFill>
            <a:srgbClr val="3F7A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홍대입구역(3노선 환승) 중심 압도적 유동인구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752344"/>
            <a:ext cx="73152" cy="73152"/>
          </a:xfrm>
          <a:prstGeom prst="ellipse">
            <a:avLst/>
          </a:prstGeom>
          <a:solidFill>
            <a:srgbClr val="3F7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79192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경의선숲길(연트럴파크)이라는 대체불가 산책로 자산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73152" cy="73152"/>
          </a:xfrm>
          <a:prstGeom prst="ellipse">
            <a:avLst/>
          </a:prstGeom>
          <a:solidFill>
            <a:srgbClr val="3F7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9544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실거래가 상승 흐름(전년比 +10.4%)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1371600"/>
            <a:ext cx="5417820" cy="2400300"/>
          </a:xfrm>
          <a:prstGeom prst="roundRect">
            <a:avLst>
              <a:gd name="adj" fmla="val 3810"/>
            </a:avLst>
          </a:prstGeom>
          <a:solidFill>
            <a:srgbClr val="F5E6D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3660" y="1572768"/>
            <a:ext cx="402336" cy="40233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23660" y="1572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26580" y="1572768"/>
            <a:ext cx="45034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약점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69380" y="2221992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652260" y="2148840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의존형 상권 특성상 업종 쏠림 변동성 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69380" y="2752344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652260" y="2679192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필지 규모가 대체로 소형이라 대형 개발엔 합필 필요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69380" y="3282696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6652260" y="3209544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실거래·매물 지번 불일치로 동일 건물 기준 가격비교 데이터 부재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00500"/>
            <a:ext cx="5417820" cy="2400300"/>
          </a:xfrm>
          <a:prstGeom prst="roundRect">
            <a:avLst>
              <a:gd name="adj" fmla="val 3810"/>
            </a:avLst>
          </a:prstGeom>
          <a:solidFill>
            <a:srgbClr val="E3E9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201668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01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201668"/>
            <a:ext cx="45034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기회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4850892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777740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대장홍대선 착공(2031년 4노선 환승역화) 실현 시 가치 확장 가능성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381244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308092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지구단위계획 재정비로 역세권 복합개발 인센티브 도입 추진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5911596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838444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필지 동시매물로 합필 개발 여지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5060" y="4000500"/>
            <a:ext cx="5417820" cy="2400300"/>
          </a:xfrm>
          <a:prstGeom prst="roundRect">
            <a:avLst>
              <a:gd name="adj" fmla="val 3810"/>
            </a:avLst>
          </a:prstGeom>
          <a:solidFill>
            <a:srgbClr val="FBEFD9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3660" y="4201668"/>
            <a:ext cx="402336" cy="402336"/>
          </a:xfrm>
          <a:prstGeom prst="ellipse">
            <a:avLst/>
          </a:prstGeom>
          <a:solidFill>
            <a:srgbClr val="A66A1E"/>
          </a:solidFill>
          <a:ln/>
        </p:spPr>
      </p:sp>
      <p:sp>
        <p:nvSpPr>
          <p:cNvPr id="36" name="Text 34"/>
          <p:cNvSpPr/>
          <p:nvPr/>
        </p:nvSpPr>
        <p:spPr>
          <a:xfrm>
            <a:off x="6423660" y="4201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26580" y="4201668"/>
            <a:ext cx="45034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위협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69380" y="4850892"/>
            <a:ext cx="73152" cy="73152"/>
          </a:xfrm>
          <a:prstGeom prst="ellipse">
            <a:avLst/>
          </a:prstGeom>
          <a:solidFill>
            <a:srgbClr val="A66A1E"/>
          </a:solidFill>
          <a:ln/>
        </p:spPr>
      </p:sp>
      <p:sp>
        <p:nvSpPr>
          <p:cNvPr id="39" name="Text 37"/>
          <p:cNvSpPr/>
          <p:nvPr/>
        </p:nvSpPr>
        <p:spPr>
          <a:xfrm>
            <a:off x="6652260" y="4777740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대장홍대선·철도지하화 모두 중장기 계획으로 선반영 리스크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69380" y="5381244"/>
            <a:ext cx="73152" cy="73152"/>
          </a:xfrm>
          <a:prstGeom prst="ellipse">
            <a:avLst/>
          </a:prstGeom>
          <a:solidFill>
            <a:srgbClr val="A66A1E"/>
          </a:solidFill>
          <a:ln/>
        </p:spPr>
      </p:sp>
      <p:sp>
        <p:nvSpPr>
          <p:cNvPr id="41" name="Text 39"/>
          <p:cNvSpPr/>
          <p:nvPr/>
        </p:nvSpPr>
        <p:spPr>
          <a:xfrm>
            <a:off x="6652260" y="5308092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호가가 실거래 대비 높아 고점매수 리스크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69380" y="5911596"/>
            <a:ext cx="73152" cy="73152"/>
          </a:xfrm>
          <a:prstGeom prst="ellipse">
            <a:avLst/>
          </a:prstGeom>
          <a:solidFill>
            <a:srgbClr val="A66A1E"/>
          </a:solidFill>
          <a:ln/>
        </p:spPr>
      </p:sp>
      <p:sp>
        <p:nvSpPr>
          <p:cNvPr id="43" name="Text 41"/>
          <p:cNvSpPr/>
          <p:nvPr/>
        </p:nvSpPr>
        <p:spPr>
          <a:xfrm>
            <a:off x="6652260" y="5838444"/>
            <a:ext cx="46863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통계로 교차검증되지 않은 민간 데이터 의존도 존재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SWOT 분석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2A3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의견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9184" cy="3291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준공 33년 경과·내진 미적용 건물로, 매입 시 리모델링/재건축 비용을 사전 검토할 필요가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29184" cy="3291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홍대입구역 도보 3분 내 위치한 활발한 골목상권으로, 반경 500m 내 업종 다양성과 유동인구가 높은 편입니다.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329184" cy="3291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86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4개 분기 공실률이 4.2~5.1% 구간에서 안정적으로 유지되고 있어 임대 리스크는 제한적입니다.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37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실거래가는 최근 1년간 완만한 상승세로, 동일 면적대 매물 대비 소폭 저평가 구간으로 판단됩니다.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서울특별시 마포구 연남동 227-1  ·  2026년 7월 30일 기준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분석 리포트</dc:title>
  <dc:subject>PptxGenJS Presentation</dc:subject>
  <dc:creator>실거래가 대시보드</dc:creator>
  <cp:lastModifiedBy>실거래가 대시보드</cp:lastModifiedBy>
  <cp:revision>1</cp:revision>
  <dcterms:created xsi:type="dcterms:W3CDTF">2026-07-31T01:45:01Z</dcterms:created>
  <dcterms:modified xsi:type="dcterms:W3CDTF">2026-07-31T01:45:01Z</dcterms:modified>
</cp:coreProperties>
</file>